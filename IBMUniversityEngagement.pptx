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87" r:id="rId8"/>
    <p:sldId id="288" r:id="rId9"/>
    <p:sldId id="289" r:id="rId10"/>
    <p:sldId id="290" r:id="rId11"/>
    <p:sldId id="291" r:id="rId12"/>
    <p:sldId id="292" r:id="rId13"/>
    <p:sldId id="278" r:id="rId14"/>
    <p:sldId id="286" r:id="rId15"/>
    <p:sldId id="277"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64" d="100"/>
          <a:sy n="64" d="100"/>
        </p:scale>
        <p:origin x="3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054AB012-F8E8-B3F2-698F-89A78392AE89}"/>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BAD77FB-77EE-0F1F-6679-89AD4C5A5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E7F4EB0-F473-0728-919F-AF88A4AEB8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6029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hiva-panda/network_intrusion_ibm_cloud_implen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www.kaggle.com/datasets/sampadab17/network-intrusion-detection"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pattFill prst="divot">
          <a:fgClr>
            <a:schemeClr val="bg1">
              <a:lumMod val="95000"/>
            </a:schemeClr>
          </a:fgClr>
          <a:bgClr>
            <a:schemeClr val="accent2">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solidFill>
                  <a:schemeClr val="tx2">
                    <a:lumMod val="10000"/>
                  </a:schemeClr>
                </a:solidFill>
              </a:rPr>
              <a:t>“Exploring the Power of Machine Learning Model with IBM Auto AI ”</a:t>
            </a:r>
            <a:endParaRPr lang="en-IN" dirty="0">
              <a:solidFill>
                <a:schemeClr val="tx2">
                  <a:lumMod val="10000"/>
                </a:schemeClr>
              </a:solidFill>
            </a:endParaRP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25">
          <a:fgClr>
            <a:schemeClr val="bg1">
              <a:lumMod val="95000"/>
            </a:schemeClr>
          </a:fgClr>
          <a:bgClr>
            <a:schemeClr val="accent2">
              <a:lumMod val="60000"/>
              <a:lumOff val="40000"/>
            </a:schemeClr>
          </a:bgClr>
        </a:pattFill>
        <a:effectLst/>
      </p:bgPr>
    </p:bg>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505429" y="927421"/>
            <a:ext cx="7782044" cy="461665"/>
          </a:xfrm>
          <a:prstGeom prst="rect">
            <a:avLst/>
          </a:prstGeom>
          <a:noFill/>
          <a:ln>
            <a:noFill/>
          </a:ln>
        </p:spPr>
        <p:txBody>
          <a:bodyPr spcFirstLastPara="1" wrap="square" lIns="91425" tIns="45700" rIns="91425" bIns="45700" anchor="ctr" anchorCtr="0">
            <a:noAutofit/>
          </a:bodyPr>
          <a:lstStyle/>
          <a:p>
            <a:pPr lvl="0" algn="ctr">
              <a:lnSpc>
                <a:spcPct val="90000"/>
              </a:lnSpc>
              <a:buClr>
                <a:srgbClr val="002060"/>
              </a:buClr>
              <a:buSzPts val="3200"/>
            </a:pPr>
            <a:r>
              <a:rPr lang="en-US" sz="2800" b="1" i="0" u="none" strike="noStrike" cap="none" dirty="0">
                <a:solidFill>
                  <a:schemeClr val="tx2">
                    <a:lumMod val="10000"/>
                  </a:schemeClr>
                </a:solidFill>
                <a:latin typeface="Times New Roman"/>
                <a:ea typeface="Times New Roman"/>
                <a:cs typeface="Times New Roman"/>
                <a:sym typeface="Times New Roman"/>
              </a:rPr>
              <a:t>Project Title-</a:t>
            </a:r>
            <a:r>
              <a:rPr lang="en-US" sz="2400" b="1" i="0" u="none" strike="noStrike" cap="none" dirty="0">
                <a:solidFill>
                  <a:schemeClr val="tx2">
                    <a:lumMod val="10000"/>
                  </a:schemeClr>
                </a:solidFill>
                <a:latin typeface="Times New Roman"/>
                <a:ea typeface="Times New Roman"/>
                <a:cs typeface="Times New Roman"/>
                <a:sym typeface="Times New Roman"/>
              </a:rPr>
              <a:t>[</a:t>
            </a:r>
            <a:r>
              <a:rPr lang="en-IN" sz="2400" b="1" dirty="0"/>
              <a:t>Network Intrusion Detection</a:t>
            </a:r>
            <a:r>
              <a:rPr lang="en-IN" sz="2400" dirty="0"/>
              <a:t>]</a:t>
            </a:r>
            <a:endParaRPr sz="2400" b="1" i="0" u="none" strike="noStrike" cap="none" dirty="0">
              <a:solidFill>
                <a:schemeClr val="tx2">
                  <a:lumMod val="10000"/>
                </a:schemeClr>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50328231"/>
              </p:ext>
            </p:extLst>
          </p:nvPr>
        </p:nvGraphicFramePr>
        <p:xfrm>
          <a:off x="1299257" y="2600315"/>
          <a:ext cx="9394989" cy="259596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527390">
                  <a:extLst>
                    <a:ext uri="{9D8B030D-6E8A-4147-A177-3AD203B41FA5}">
                      <a16:colId xmlns:a16="http://schemas.microsoft.com/office/drawing/2014/main" val="20002"/>
                    </a:ext>
                  </a:extLst>
                </a:gridCol>
                <a:gridCol w="2359358">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65825">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30143">
                <a:tc>
                  <a:txBody>
                    <a:bodyPr/>
                    <a:lstStyle/>
                    <a:p>
                      <a:pPr marL="0" marR="0" lvl="0" indent="0" algn="ctr" rtl="0">
                        <a:spcBef>
                          <a:spcPts val="0"/>
                        </a:spcBef>
                        <a:spcAft>
                          <a:spcPts val="0"/>
                        </a:spcAft>
                        <a:buNone/>
                      </a:pPr>
                      <a:r>
                        <a:rPr lang="en-IN" dirty="0"/>
                        <a:t>Shiva panda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siba0842@gmail.com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7205358249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661717"/>
            <a:ext cx="7426406" cy="461665"/>
          </a:xfrm>
          <a:prstGeom prst="rect">
            <a:avLst/>
          </a:prstGeom>
          <a:noFill/>
          <a:ln>
            <a:noFill/>
          </a:ln>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Cybersecurity / IT </a:t>
            </a:r>
            <a:r>
              <a:rPr lang="en-US" sz="2400" b="1" dirty="0">
                <a:highlight>
                  <a:srgbClr val="FFFF00"/>
                </a:highlight>
              </a:rPr>
              <a: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20">
          <a:fgClr>
            <a:schemeClr val="bg1">
              <a:lumMod val="85000"/>
            </a:schemeClr>
          </a:fgClr>
          <a:bgClr>
            <a:schemeClr val="accent2">
              <a:lumMod val="60000"/>
              <a:lumOff val="40000"/>
            </a:schemeClr>
          </a:bgClr>
        </a:pattFill>
        <a:effectLst/>
      </p:bgPr>
    </p:bg>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165753"/>
            <a:ext cx="10607040" cy="5478423"/>
          </a:xfrm>
          <a:prstGeom prst="rect">
            <a:avLst/>
          </a:prstGeom>
          <a:gradFill>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p:spPr>
        <p:txBody>
          <a:bodyPr wrap="square" rtlCol="0" anchor="b">
            <a:spAutoFit/>
          </a:bodyPr>
          <a:lstStyle/>
          <a:p>
            <a:r>
              <a:rPr lang="en-IN" sz="1600" b="1" dirty="0"/>
              <a:t>The Challenge</a:t>
            </a:r>
          </a:p>
          <a:p>
            <a:endParaRPr lang="en-IN" sz="1600" b="1" dirty="0"/>
          </a:p>
          <a:p>
            <a:pPr marL="285750" indent="-285750">
              <a:buFont typeface="Arial" panose="020B0604020202020204" pitchFamily="34" charset="0"/>
              <a:buChar char="•"/>
            </a:pPr>
            <a:r>
              <a:rPr lang="en-IN" sz="1600" dirty="0"/>
              <a:t>Modern enterprise networks face an unprecedented surge in sophisticated cyber threats, making the real-time detection of malicious traffic a matter of critical survival for organizations. </a:t>
            </a:r>
          </a:p>
          <a:p>
            <a:pPr marL="285750" indent="-285750">
              <a:buFont typeface="Arial" panose="020B0604020202020204" pitchFamily="34" charset="0"/>
              <a:buChar char="•"/>
            </a:pPr>
            <a:r>
              <a:rPr lang="en-IN" sz="1600" dirty="0"/>
              <a:t>Nowadays, identifying network anomalies is just as vital as detecting financial fraud or identity theft, as a single undetected intrusion can compromise sensitive user data, breach privacy, and disrupt global communication infrastructure.</a:t>
            </a:r>
          </a:p>
          <a:p>
            <a:pPr marL="285750" indent="-285750">
              <a:buFont typeface="Arial" panose="020B0604020202020204" pitchFamily="34" charset="0"/>
              <a:buChar char="•"/>
            </a:pPr>
            <a:r>
              <a:rPr lang="en-IN" sz="1600" dirty="0"/>
              <a:t>Security teams suffer from severe alert fatigue due to high false-alarm rates, while slow processing speeds in traditional infrastructure prevent the instantaneous analysis of massive, high-velocity data streams. </a:t>
            </a:r>
          </a:p>
          <a:p>
            <a:pPr marL="285750" indent="-285750">
              <a:buFont typeface="Arial" panose="020B0604020202020204" pitchFamily="34" charset="0"/>
              <a:buChar char="•"/>
            </a:pPr>
            <a:endParaRPr lang="en-IN" sz="1600" dirty="0"/>
          </a:p>
          <a:p>
            <a:r>
              <a:rPr lang="en-IN" sz="1600" b="1" dirty="0"/>
              <a:t>The Objective</a:t>
            </a:r>
          </a:p>
          <a:p>
            <a:endParaRPr lang="en-IN" sz="1600" b="1" dirty="0"/>
          </a:p>
          <a:p>
            <a:pPr marL="285750" indent="-285750">
              <a:buFont typeface="Arial" panose="020B0604020202020204" pitchFamily="34" charset="0"/>
              <a:buChar char="•"/>
            </a:pPr>
            <a:r>
              <a:rPr lang="en-IN" sz="1600" dirty="0"/>
              <a:t>The core goal is to build an intelligent, machine learning-powered Network Intrusion Detection System (NIDS) that acts as an automated security shield to protect communication channels. </a:t>
            </a:r>
          </a:p>
          <a:p>
            <a:pPr marL="285750" indent="-285750">
              <a:buFont typeface="Arial" panose="020B0604020202020204" pitchFamily="34" charset="0"/>
              <a:buChar char="•"/>
            </a:pPr>
            <a:r>
              <a:rPr lang="en-IN" sz="1600" dirty="0"/>
              <a:t>The system must meticulously </a:t>
            </a:r>
            <a:r>
              <a:rPr lang="en-IN" sz="1600" dirty="0" err="1"/>
              <a:t>analyze</a:t>
            </a:r>
            <a:r>
              <a:rPr lang="en-IN" sz="1600" dirty="0"/>
              <a:t> incoming network profiles, safely separating standard operational traffic from dangerous attack vectors like Denial of Service (DoS), Probe scams, unauthorized data exploitation, and privilege escalation frauds. </a:t>
            </a:r>
          </a:p>
          <a:p>
            <a:pPr marL="285750" indent="-285750">
              <a:buFont typeface="Arial" panose="020B0604020202020204" pitchFamily="34" charset="0"/>
              <a:buChar char="•"/>
            </a:pPr>
            <a:r>
              <a:rPr lang="en-IN" sz="1600" dirty="0"/>
              <a:t>By deploying a high-reliability model optimized for performance metrics like the F1-score rather than basic accuracy, the project aims to minimize missed attacks and deliver immediate, trustworthy early warnings. </a:t>
            </a:r>
          </a:p>
          <a:p>
            <a:pPr marL="285750" indent="-285750">
              <a:buFont typeface="Arial" panose="020B0604020202020204" pitchFamily="34" charset="0"/>
              <a:buChar char="•"/>
            </a:pPr>
            <a:r>
              <a:rPr lang="en-IN" sz="1600" dirty="0"/>
              <a:t>Ultimately, the objective is to establish an enterprise-grade cloud pipeline that surfaces real-time threat intelligence and provides downloadable diagnostic reports to keep modern networks secure.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354766"/>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10">
          <a:fgClr>
            <a:schemeClr val="lt1"/>
          </a:fgClr>
          <a:bgClr>
            <a:schemeClr val="accent2">
              <a:lumMod val="60000"/>
              <a:lumOff val="40000"/>
            </a:schemeClr>
          </a:bgClr>
        </a:pattFill>
        <a:effectLst/>
      </p:bgPr>
    </p:bg>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525348"/>
            <a:ext cx="10607040" cy="3046988"/>
          </a:xfrm>
          <a:prstGeom prst="rect">
            <a:avLst/>
          </a:prstGeom>
          <a:gradFill>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p:spPr>
        <p:txBody>
          <a:bodyPr wrap="square" rtlCol="0">
            <a:spAutoFit/>
          </a:bodyPr>
          <a:lstStyle/>
          <a:p>
            <a:pPr fontAlgn="base"/>
            <a:endParaRPr lang="en-US" b="1" dirty="0"/>
          </a:p>
          <a:p>
            <a:r>
              <a:rPr lang="en-IN" sz="1800" b="1" dirty="0"/>
              <a:t>Technology Stack (Mandatory)</a:t>
            </a:r>
            <a:r>
              <a:rPr lang="en-IN" sz="1800" dirty="0"/>
              <a:t> </a:t>
            </a:r>
          </a:p>
          <a:p>
            <a:r>
              <a:rPr lang="en-IN" sz="1800" b="1" dirty="0"/>
              <a:t>Cloud Architecture:</a:t>
            </a:r>
            <a:r>
              <a:rPr lang="en-IN" sz="1800" dirty="0"/>
              <a:t> IBM Watsonx.ai, </a:t>
            </a:r>
            <a:r>
              <a:rPr lang="en-IN" sz="1800" dirty="0" err="1"/>
              <a:t>AutoAI</a:t>
            </a:r>
            <a:r>
              <a:rPr lang="en-IN" sz="1800" dirty="0"/>
              <a:t> ,IBM Cloud IAM Authentication, Deployment Spaces</a:t>
            </a:r>
          </a:p>
          <a:p>
            <a:r>
              <a:rPr lang="en-IN" sz="1800" b="1" dirty="0"/>
              <a:t>AI / ML Engine:</a:t>
            </a:r>
            <a:r>
              <a:rPr lang="en-IN" sz="1800" dirty="0"/>
              <a:t> IBM Watson </a:t>
            </a:r>
            <a:r>
              <a:rPr lang="en-IN" sz="1800" dirty="0" err="1"/>
              <a:t>AutoAI</a:t>
            </a:r>
            <a:r>
              <a:rPr lang="en-IN" sz="1800" dirty="0"/>
              <a:t>, IBM Watson Machine Learning Deployment API, KDD Cup Dataset.</a:t>
            </a:r>
          </a:p>
          <a:p>
            <a:r>
              <a:rPr lang="en-IN" sz="1800" b="1" dirty="0"/>
              <a:t>Backend Infrastructure:</a:t>
            </a:r>
            <a:r>
              <a:rPr lang="en-IN" sz="1800" dirty="0"/>
              <a:t> Python, Flask, Requests library, Pandas (for 41-feature dataset parsing).</a:t>
            </a:r>
          </a:p>
          <a:p>
            <a:r>
              <a:rPr lang="en-IN" sz="1800" b="1" dirty="0"/>
              <a:t>Frontend Dashboard:</a:t>
            </a:r>
            <a:r>
              <a:rPr lang="en-IN" sz="1800" dirty="0"/>
              <a:t> HTML5, CSS3, Jinja2 template engine.</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539702"/>
            <a:ext cx="7214616" cy="523220"/>
          </a:xfrm>
          <a:prstGeom prst="rect">
            <a:avLst/>
          </a:prstGeom>
          <a:noFill/>
        </p:spPr>
        <p:txBody>
          <a:bodyPr wrap="square" rtlCol="0">
            <a:spAutoFit/>
          </a:bodyPr>
          <a:lstStyle/>
          <a:p>
            <a:r>
              <a:rPr lang="en-US" sz="2800" b="1" dirty="0"/>
              <a:t>Technology Used -</a:t>
            </a:r>
            <a:endParaRPr lang="en-IN" sz="28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15146" y="1316633"/>
            <a:ext cx="10607040" cy="4770537"/>
          </a:xfrm>
          <a:prstGeom prst="rect">
            <a:avLst/>
          </a:prstGeom>
          <a:gradFill>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p:spPr>
        <p:txBody>
          <a:bodyPr wrap="square" rtlCol="0">
            <a:spAutoFit/>
          </a:bodyPr>
          <a:lstStyle/>
          <a:p>
            <a:r>
              <a:rPr lang="en-IN" sz="1600" b="1" dirty="0"/>
              <a:t>The Solution Concept</a:t>
            </a:r>
          </a:p>
          <a:p>
            <a:pPr marL="285750" indent="-285750">
              <a:buFont typeface="Wingdings" panose="05000000000000000000" pitchFamily="2" charset="2"/>
              <a:buChar char="§"/>
            </a:pPr>
            <a:r>
              <a:rPr lang="en-IN" sz="1600" dirty="0"/>
              <a:t>We propose an intelligent, cloud-integrated </a:t>
            </a:r>
            <a:r>
              <a:rPr lang="en-IN" sz="1600" b="1" dirty="0"/>
              <a:t>Network Intrusion Detection System (NIDS)</a:t>
            </a:r>
            <a:r>
              <a:rPr lang="en-IN" sz="1600" dirty="0"/>
              <a:t> that leverages </a:t>
            </a:r>
            <a:r>
              <a:rPr lang="en-IN" sz="1600" b="1" dirty="0"/>
              <a:t>IBM Watson </a:t>
            </a:r>
            <a:r>
              <a:rPr lang="en-IN" sz="1600" b="1" dirty="0" err="1"/>
              <a:t>AutoAI</a:t>
            </a:r>
            <a:r>
              <a:rPr lang="en-IN" sz="1600" dirty="0"/>
              <a:t> to automate and accelerate threat discovery. </a:t>
            </a:r>
          </a:p>
          <a:p>
            <a:pPr marL="285750" indent="-285750">
              <a:buFont typeface="Wingdings" panose="05000000000000000000" pitchFamily="2" charset="2"/>
              <a:buChar char="§"/>
            </a:pPr>
            <a:r>
              <a:rPr lang="en-IN" sz="1600" dirty="0"/>
              <a:t>Instead of relying on human engineers to manually write security rules, this system uses machine learning to study network traffic patterns, learn what "normal" </a:t>
            </a:r>
            <a:r>
              <a:rPr lang="en-IN" sz="1600" dirty="0" err="1"/>
              <a:t>behavior</a:t>
            </a:r>
            <a:r>
              <a:rPr lang="en-IN" sz="1600" dirty="0"/>
              <a:t> looks like, and flag suspicious anomalies instantly. </a:t>
            </a:r>
          </a:p>
          <a:p>
            <a:pPr marL="285750" indent="-285750">
              <a:buFont typeface="Wingdings" panose="05000000000000000000" pitchFamily="2" charset="2"/>
              <a:buChar char="§"/>
            </a:pPr>
            <a:r>
              <a:rPr lang="en-IN" sz="1600" dirty="0"/>
              <a:t>Nowadays, cyber fraud and network attacks look highly realistic, so the solution passes the traffic data through an optimized machine learning model to inspect 41 distinct network features (such as protocol types, byte sizes, and connection durations) to spot hidden indicators of compromise. </a:t>
            </a:r>
          </a:p>
          <a:p>
            <a:r>
              <a:rPr lang="en-IN" sz="1600" b="1" dirty="0"/>
              <a:t>Core Execution &amp; Capabilities</a:t>
            </a:r>
          </a:p>
          <a:p>
            <a:pPr marL="285750" indent="-285750">
              <a:buFont typeface="Wingdings" panose="05000000000000000000" pitchFamily="2" charset="2"/>
              <a:buChar char="§"/>
            </a:pPr>
            <a:r>
              <a:rPr lang="en-IN" sz="1600" b="1" dirty="0"/>
              <a:t>Automated Machine Learning (IBM </a:t>
            </a:r>
            <a:r>
              <a:rPr lang="en-IN" sz="1600" b="1" dirty="0" err="1"/>
              <a:t>AutoAI</a:t>
            </a:r>
            <a:r>
              <a:rPr lang="en-IN" sz="1600" b="1" dirty="0"/>
              <a:t>):</a:t>
            </a:r>
            <a:r>
              <a:rPr lang="en-IN" sz="1600" dirty="0"/>
              <a:t> The heart of the solution is powered by IBM Watson </a:t>
            </a:r>
            <a:r>
              <a:rPr lang="en-IN" sz="1600" dirty="0" err="1"/>
              <a:t>AutoAI</a:t>
            </a:r>
            <a:r>
              <a:rPr lang="en-IN" sz="1600" dirty="0"/>
              <a:t>, which automatically handles data preprocessing, feature engineering, and hyperparameter tuning. It builds and tests multiple pipelines, ultimately selecting a model optimized for a high F1-score to ensure dangerous threats and frauds are never missed. </a:t>
            </a:r>
          </a:p>
          <a:p>
            <a:pPr marL="285750" indent="-285750">
              <a:buFont typeface="Wingdings" panose="05000000000000000000" pitchFamily="2" charset="2"/>
              <a:buChar char="§"/>
            </a:pPr>
            <a:r>
              <a:rPr lang="en-IN" sz="1600" b="1" dirty="0"/>
              <a:t>Visual Anomaly Flagging:</a:t>
            </a:r>
            <a:r>
              <a:rPr lang="en-IN" sz="1600" dirty="0"/>
              <a:t> The system processes the incoming network data and displays the results clearly on a web interface using an easy-to-read, color-coded tracking system. </a:t>
            </a:r>
          </a:p>
          <a:p>
            <a:pPr marL="285750" indent="-285750">
              <a:buFont typeface="Wingdings" panose="05000000000000000000" pitchFamily="2" charset="2"/>
              <a:buChar char="§"/>
            </a:pPr>
            <a:r>
              <a:rPr lang="en-IN" sz="1600" b="1" dirty="0"/>
              <a:t>Attack Highlighting:</a:t>
            </a:r>
            <a:r>
              <a:rPr lang="en-IN" sz="1600" dirty="0"/>
              <a:t> To help security teams quickly spot dangers without getting overwhelmed, safe everyday user traffic is </a:t>
            </a:r>
            <a:r>
              <a:rPr lang="en-IN" sz="1600" dirty="0" err="1"/>
              <a:t>labeled</a:t>
            </a:r>
            <a:r>
              <a:rPr lang="en-IN" sz="1600" dirty="0"/>
              <a:t> in </a:t>
            </a:r>
            <a:r>
              <a:rPr lang="en-IN" sz="1600" b="1" dirty="0"/>
              <a:t>green (normal)</a:t>
            </a:r>
            <a:r>
              <a:rPr lang="en-IN" sz="1600" dirty="0"/>
              <a:t>, while malicious hacks and digital fraud are instantly highlighted in </a:t>
            </a:r>
            <a:r>
              <a:rPr lang="en-IN" sz="1600" b="1" dirty="0"/>
              <a:t>red (anomaly)</a:t>
            </a:r>
            <a:r>
              <a:rPr lang="en-IN" sz="1600" dirty="0"/>
              <a:t>. </a:t>
            </a:r>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15146" y="539997"/>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7761584"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a:t>Technology Stack &amp; IBM Cloud Components Used-</a:t>
            </a: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340265"/>
            <a:ext cx="9971204" cy="3016210"/>
          </a:xfrm>
          <a:prstGeom prst="rect">
            <a:avLst/>
          </a:prstGeom>
          <a:gradFill>
            <a:gsLst>
              <a:gs pos="46000">
                <a:schemeClr val="accent1">
                  <a:lumMod val="5000"/>
                  <a:lumOff val="95000"/>
                </a:schemeClr>
              </a:gs>
              <a:gs pos="0">
                <a:schemeClr val="accent1">
                  <a:lumMod val="45000"/>
                  <a:lumOff val="55000"/>
                  <a:alpha val="0"/>
                </a:schemeClr>
              </a:gs>
              <a:gs pos="0">
                <a:schemeClr val="accent1">
                  <a:lumMod val="45000"/>
                  <a:lumOff val="55000"/>
                </a:schemeClr>
              </a:gs>
              <a:gs pos="76000">
                <a:schemeClr val="accent1">
                  <a:lumMod val="30000"/>
                  <a:lumOff val="70000"/>
                </a:schemeClr>
              </a:gs>
            </a:gsLst>
            <a:lin ang="5400000" scaled="1"/>
          </a:gradFill>
        </p:spPr>
        <p:txBody>
          <a:bodyPr wrap="square" rtlCol="0">
            <a:spAutoFit/>
          </a:bodyPr>
          <a:lstStyle/>
          <a:p>
            <a:pPr marL="285750" indent="-285750">
              <a:buFont typeface="Arial" panose="020B0604020202020204" pitchFamily="34" charset="0"/>
              <a:buChar char="•"/>
            </a:pPr>
            <a:r>
              <a:rPr lang="en-IN" sz="1600" b="1" dirty="0"/>
              <a:t>IBM Watson Studio:</a:t>
            </a:r>
            <a:r>
              <a:rPr lang="en-IN" sz="1600" dirty="0"/>
              <a:t> Serves as the centralized, cloud-based data science workspace where the main cybersecurity project experiments (</a:t>
            </a:r>
            <a:r>
              <a:rPr lang="en-IN" sz="1600" dirty="0" err="1"/>
              <a:t>networking_project_ml</a:t>
            </a:r>
            <a:r>
              <a:rPr lang="en-IN" sz="1600" dirty="0"/>
              <a:t> / </a:t>
            </a:r>
            <a:r>
              <a:rPr lang="en-IN" sz="1600" dirty="0" err="1"/>
              <a:t>Cybernet_ml_project</a:t>
            </a:r>
            <a:r>
              <a:rPr lang="en-IN" sz="1600" dirty="0"/>
              <a:t>) are hosted and managed. </a:t>
            </a:r>
          </a:p>
          <a:p>
            <a:pPr marL="285750" indent="-285750">
              <a:buFont typeface="Arial" panose="020B0604020202020204" pitchFamily="34" charset="0"/>
              <a:buChar char="•"/>
            </a:pPr>
            <a:r>
              <a:rPr lang="en-IN" sz="1600" b="1" dirty="0"/>
              <a:t>IBM Watson </a:t>
            </a:r>
            <a:r>
              <a:rPr lang="en-IN" sz="1600" b="1" dirty="0" err="1"/>
              <a:t>AutoAI</a:t>
            </a:r>
            <a:r>
              <a:rPr lang="en-IN" sz="1600" b="1" dirty="0"/>
              <a:t>:</a:t>
            </a:r>
            <a:r>
              <a:rPr lang="en-IN" sz="1600" dirty="0"/>
              <a:t> The core engine used to fully automate the machine learning pipeline, eliminating the need for manual model code creation. </a:t>
            </a:r>
          </a:p>
          <a:p>
            <a:pPr marL="285750" indent="-285750">
              <a:buFont typeface="Arial" panose="020B0604020202020204" pitchFamily="34" charset="0"/>
              <a:buChar char="•"/>
            </a:pPr>
            <a:r>
              <a:rPr lang="en-IN" sz="1600" b="1" dirty="0"/>
              <a:t>Automated Feature Engineering Component:</a:t>
            </a:r>
            <a:r>
              <a:rPr lang="en-IN" sz="1600" dirty="0"/>
              <a:t> A specialized module inside </a:t>
            </a:r>
            <a:r>
              <a:rPr lang="en-IN" sz="1600" dirty="0" err="1"/>
              <a:t>AutoAI</a:t>
            </a:r>
            <a:r>
              <a:rPr lang="en-IN" sz="1600" dirty="0"/>
              <a:t> that automatically applies feature transformers to extract, combine, and optimize high-priority network traffic characteristics. </a:t>
            </a:r>
          </a:p>
          <a:p>
            <a:pPr marL="285750" indent="-285750">
              <a:buFont typeface="Arial" panose="020B0604020202020204" pitchFamily="34" charset="0"/>
              <a:buChar char="•"/>
            </a:pPr>
            <a:r>
              <a:rPr lang="en-IN" sz="1600" b="1" dirty="0"/>
              <a:t>Automated Training &amp; Optimization Engine:</a:t>
            </a:r>
            <a:r>
              <a:rPr lang="en-IN" sz="1600" dirty="0"/>
              <a:t> The </a:t>
            </a:r>
            <a:r>
              <a:rPr lang="en-IN" sz="1600" dirty="0" err="1"/>
              <a:t>AutoAI</a:t>
            </a:r>
            <a:r>
              <a:rPr lang="en-IN" sz="1600" dirty="0"/>
              <a:t> component that runs hyperparameter optimization (HPO) and ensemble stacking to automatically build and train multiple model pipelines. </a:t>
            </a:r>
          </a:p>
          <a:p>
            <a:pPr marL="285750" indent="-285750">
              <a:buFont typeface="Arial" panose="020B0604020202020204" pitchFamily="34" charset="0"/>
              <a:buChar char="•"/>
            </a:pPr>
            <a:r>
              <a:rPr lang="en-IN" sz="1600" b="1" dirty="0"/>
              <a:t>IBM Cloud Deployment Spaces:</a:t>
            </a:r>
            <a:r>
              <a:rPr lang="en-IN" sz="1600" dirty="0"/>
              <a:t> The secure cloud infrastructure (</a:t>
            </a:r>
            <a:r>
              <a:rPr lang="en-IN" sz="1600" dirty="0" err="1"/>
              <a:t>network_security_ml_space</a:t>
            </a:r>
            <a:r>
              <a:rPr lang="en-IN" sz="1600" dirty="0"/>
              <a:t>) where the champion model is saved, managed, and hosted.</a:t>
            </a:r>
          </a:p>
          <a:p>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173">
          <a:extLst>
            <a:ext uri="{FF2B5EF4-FFF2-40B4-BE49-F238E27FC236}">
              <a16:creationId xmlns:a16="http://schemas.microsoft.com/office/drawing/2014/main" id="{FF7B73B9-053B-3E47-96E9-AA157F6CB1E8}"/>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B61E252-E3E0-8101-3D3F-E0618F0A4F51}"/>
              </a:ext>
            </a:extLst>
          </p:cNvPr>
          <p:cNvSpPr/>
          <p:nvPr/>
        </p:nvSpPr>
        <p:spPr>
          <a:xfrm>
            <a:off x="689990" y="1252139"/>
            <a:ext cx="10829462" cy="4572191"/>
          </a:xfrm>
          <a:prstGeom prst="rect">
            <a:avLst/>
          </a:prstGeom>
          <a:gradFill>
            <a:gsLst>
              <a:gs pos="46000">
                <a:schemeClr val="accent1">
                  <a:lumMod val="5000"/>
                  <a:lumOff val="95000"/>
                </a:schemeClr>
              </a:gs>
              <a:gs pos="0">
                <a:schemeClr val="accent1">
                  <a:lumMod val="45000"/>
                  <a:lumOff val="55000"/>
                  <a:alpha val="0"/>
                </a:schemeClr>
              </a:gs>
              <a:gs pos="0">
                <a:schemeClr val="accent1">
                  <a:lumMod val="45000"/>
                  <a:lumOff val="55000"/>
                </a:schemeClr>
              </a:gs>
              <a:gs pos="76000">
                <a:schemeClr val="accent1">
                  <a:lumMod val="30000"/>
                  <a:lumOff val="70000"/>
                </a:schemeClr>
              </a:gs>
            </a:gsLst>
            <a:lin ang="5400000" scaled="1"/>
          </a:gradFill>
          <a:ln>
            <a:noFill/>
          </a:ln>
        </p:spPr>
        <p:txBody>
          <a:bodyPr spcFirstLastPara="1" wrap="square" lIns="0" tIns="0" rIns="0" bIns="0" anchor="t" anchorCtr="0">
            <a:noAutofit/>
          </a:bodyPr>
          <a:lstStyle/>
          <a:p>
            <a:r>
              <a:rPr lang="en-IN" sz="1600" b="1" dirty="0"/>
              <a:t>STEP 1: Environment Setup in IBM Watson Studio</a:t>
            </a:r>
            <a:endParaRPr lang="en-IN" sz="1600" dirty="0"/>
          </a:p>
          <a:p>
            <a:r>
              <a:rPr lang="en-IN" sz="1600" dirty="0"/>
              <a:t>Create a centralized cloud data science workspace by setting up a project experiment within </a:t>
            </a:r>
            <a:r>
              <a:rPr lang="en-IN" sz="1600" b="1" dirty="0"/>
              <a:t>IBM Watson Studio</a:t>
            </a:r>
            <a:r>
              <a:rPr lang="en-IN" sz="1600" dirty="0"/>
              <a:t> to securely host and manage the cybersecurity assets.</a:t>
            </a:r>
          </a:p>
          <a:p>
            <a:r>
              <a:rPr lang="en-IN" sz="1600" b="1" dirty="0"/>
              <a:t>STEP 2: Dataset Loading &amp; Setup</a:t>
            </a:r>
            <a:endParaRPr lang="en-IN" sz="1600" dirty="0"/>
          </a:p>
          <a:p>
            <a:r>
              <a:rPr lang="en-IN" sz="1600" dirty="0"/>
              <a:t>Import the raw network intrusion training dataset (Train_data.csv) into the workspace, ensuring all 41 distinct connection feature attributes are present for traffic pattern analysis. </a:t>
            </a:r>
          </a:p>
          <a:p>
            <a:r>
              <a:rPr lang="en-IN" sz="1600" b="1" dirty="0"/>
              <a:t>STEP 3: </a:t>
            </a:r>
            <a:r>
              <a:rPr lang="en-IN" sz="1600" b="1" dirty="0" err="1"/>
              <a:t>AutoAI</a:t>
            </a:r>
            <a:r>
              <a:rPr lang="en-IN" sz="1600" b="1" dirty="0"/>
              <a:t> Experiment Configuration</a:t>
            </a:r>
            <a:endParaRPr lang="en-IN" sz="1600" dirty="0"/>
          </a:p>
          <a:p>
            <a:r>
              <a:rPr lang="en-IN" sz="1600" dirty="0"/>
              <a:t>Initialize </a:t>
            </a:r>
            <a:r>
              <a:rPr lang="en-IN" sz="1600" b="1" dirty="0"/>
              <a:t>IBM Watson </a:t>
            </a:r>
            <a:r>
              <a:rPr lang="en-IN" sz="1600" b="1" dirty="0" err="1"/>
              <a:t>AutoAI</a:t>
            </a:r>
            <a:r>
              <a:rPr lang="en-IN" sz="1600" dirty="0"/>
              <a:t> and target the class column as the prediction target to automatically configure the system for binary classification (normal vs. anomaly).</a:t>
            </a:r>
          </a:p>
          <a:p>
            <a:r>
              <a:rPr lang="en-IN" sz="1600" b="1" dirty="0"/>
              <a:t>STEP 4: Automated Data Preprocessing &amp; Feature Engineering</a:t>
            </a:r>
            <a:endParaRPr lang="en-IN" sz="1600" dirty="0"/>
          </a:p>
          <a:p>
            <a:r>
              <a:rPr lang="en-IN" sz="1600" dirty="0"/>
              <a:t>Run the </a:t>
            </a:r>
            <a:r>
              <a:rPr lang="en-IN" sz="1600" dirty="0" err="1"/>
              <a:t>AutoAI</a:t>
            </a:r>
            <a:r>
              <a:rPr lang="en-IN" sz="1600" dirty="0"/>
              <a:t> engine to let it automatically parse the data, handle feature transformations, and apply optimized </a:t>
            </a:r>
            <a:r>
              <a:rPr lang="en-IN" sz="1600" b="1" dirty="0"/>
              <a:t>Feature Transformers</a:t>
            </a:r>
            <a:r>
              <a:rPr lang="en-IN" sz="1600" dirty="0"/>
              <a:t> to extract high-priority network characteristics. </a:t>
            </a:r>
          </a:p>
          <a:p>
            <a:r>
              <a:rPr lang="en-IN" sz="1600" b="1" dirty="0"/>
              <a:t>STEP 5: Model Training, Evaluation, &amp; Selection</a:t>
            </a:r>
            <a:endParaRPr lang="en-IN" sz="1600" dirty="0"/>
          </a:p>
          <a:p>
            <a:r>
              <a:rPr lang="en-IN" sz="1600" dirty="0"/>
              <a:t>Allow </a:t>
            </a:r>
            <a:r>
              <a:rPr lang="en-IN" sz="1600" dirty="0" err="1"/>
              <a:t>AutoAI</a:t>
            </a:r>
            <a:r>
              <a:rPr lang="en-IN" sz="1600" dirty="0"/>
              <a:t> to train multiple pipelines using advanced algorithms, evaluate them based on the </a:t>
            </a:r>
            <a:r>
              <a:rPr lang="en-IN" sz="1600" b="1" dirty="0"/>
              <a:t>F1-Score (Optimized)</a:t>
            </a:r>
            <a:r>
              <a:rPr lang="en-IN" sz="1600" dirty="0"/>
              <a:t> metric, and select </a:t>
            </a:r>
            <a:r>
              <a:rPr lang="en-IN" sz="1600" b="1" dirty="0"/>
              <a:t>Pipeline 9 (Snap Random Forest Classifier)</a:t>
            </a:r>
            <a:r>
              <a:rPr lang="en-IN" sz="1600" dirty="0"/>
              <a:t> as the champion model.</a:t>
            </a:r>
          </a:p>
          <a:p>
            <a:r>
              <a:rPr lang="en-IN" sz="1600" b="1" dirty="0"/>
              <a:t>STEP 6: Cloud Deployment Space Creation</a:t>
            </a:r>
            <a:endParaRPr lang="en-IN" sz="1600" dirty="0"/>
          </a:p>
          <a:p>
            <a:r>
              <a:rPr lang="en-IN" sz="1600" dirty="0"/>
              <a:t>Create a dedicated production infrastructure environment (</a:t>
            </a:r>
            <a:r>
              <a:rPr lang="en-IN" sz="1600" b="1" dirty="0"/>
              <a:t>IBM Cloud Deployment Space</a:t>
            </a:r>
            <a:r>
              <a:rPr lang="en-IN" sz="1600" dirty="0"/>
              <a:t> named </a:t>
            </a:r>
            <a:r>
              <a:rPr lang="en-IN" sz="1600" dirty="0" err="1"/>
              <a:t>network_security_ml_space</a:t>
            </a:r>
            <a:r>
              <a:rPr lang="en-IN" sz="1600" dirty="0"/>
              <a:t>) to save and store the finalized champion model configuration. </a:t>
            </a:r>
          </a:p>
        </p:txBody>
      </p:sp>
      <p:sp>
        <p:nvSpPr>
          <p:cNvPr id="3" name="Google Shape;135;p5">
            <a:extLst>
              <a:ext uri="{FF2B5EF4-FFF2-40B4-BE49-F238E27FC236}">
                <a16:creationId xmlns:a16="http://schemas.microsoft.com/office/drawing/2014/main" id="{2849F54F-B8D7-8FF7-55B1-D10C487154E1}"/>
              </a:ext>
            </a:extLst>
          </p:cNvPr>
          <p:cNvSpPr/>
          <p:nvPr/>
        </p:nvSpPr>
        <p:spPr>
          <a:xfrm>
            <a:off x="689990" y="475638"/>
            <a:ext cx="6008984" cy="597787"/>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i="0" u="none" strike="noStrike" cap="none" dirty="0">
                <a:solidFill>
                  <a:srgbClr val="051D3A"/>
                </a:solidFill>
                <a:latin typeface="Times New Roman"/>
                <a:ea typeface="Times New Roman"/>
                <a:cs typeface="Times New Roman"/>
                <a:sym typeface="Times New Roman"/>
              </a:rPr>
              <a:t> </a:t>
            </a:r>
            <a:r>
              <a:rPr lang="en-IN" sz="2800" b="1" dirty="0">
                <a:latin typeface="Arial" panose="020B0604020202020204" pitchFamily="34" charset="0"/>
                <a:cs typeface="Arial" panose="020B0604020202020204" pitchFamily="34" charset="0"/>
              </a:rPr>
              <a:t>Implementation</a:t>
            </a:r>
            <a:r>
              <a:rPr lang="en-IN" sz="2800" b="1" dirty="0"/>
              <a:t> </a:t>
            </a:r>
            <a:r>
              <a:rPr lang="en-US" sz="2800" b="1" i="0" u="none" strike="noStrike" cap="none" dirty="0">
                <a:solidFill>
                  <a:schemeClr val="tx2">
                    <a:lumMod val="10000"/>
                  </a:schemeClr>
                </a:solidFill>
                <a:latin typeface="Times New Roman"/>
                <a:ea typeface="Times New Roman"/>
                <a:cs typeface="Times New Roman"/>
                <a:sym typeface="Times New Roman"/>
              </a:rPr>
              <a:t>W</a:t>
            </a:r>
            <a:r>
              <a:rPr lang="en-US" sz="2800" b="1" dirty="0">
                <a:solidFill>
                  <a:schemeClr val="tx2">
                    <a:lumMod val="10000"/>
                  </a:schemeClr>
                </a:solidFill>
                <a:sym typeface="Times New Roman"/>
              </a:rPr>
              <a:t>orkflow</a:t>
            </a:r>
            <a:r>
              <a:rPr lang="en-US" sz="2800" b="1" dirty="0">
                <a:sym typeface="Times New Roman"/>
              </a:rPr>
              <a:t> -</a:t>
            </a:r>
            <a:endParaRPr sz="2800" b="1" dirty="0">
              <a:sym typeface="Times New Roman"/>
            </a:endParaRPr>
          </a:p>
        </p:txBody>
      </p:sp>
    </p:spTree>
    <p:extLst>
      <p:ext uri="{BB962C8B-B14F-4D97-AF65-F5344CB8AC3E}">
        <p14:creationId xmlns:p14="http://schemas.microsoft.com/office/powerpoint/2010/main" val="180747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1A98-F9D8-19F3-B01E-2F1627E0F912}"/>
              </a:ext>
            </a:extLst>
          </p:cNvPr>
          <p:cNvSpPr>
            <a:spLocks noGrp="1"/>
          </p:cNvSpPr>
          <p:nvPr>
            <p:ph type="title"/>
          </p:nvPr>
        </p:nvSpPr>
        <p:spPr>
          <a:xfrm>
            <a:off x="119270" y="255031"/>
            <a:ext cx="10777330" cy="449954"/>
          </a:xfrm>
        </p:spPr>
        <p:txBody>
          <a:bodyPr>
            <a:noAutofit/>
          </a:bodyPr>
          <a:lstStyle/>
          <a:p>
            <a:r>
              <a:rPr lang="en-US" sz="2800" b="1" dirty="0" err="1"/>
              <a:t>AutoAI</a:t>
            </a:r>
            <a:r>
              <a:rPr lang="en-US" sz="2800" b="1" dirty="0"/>
              <a:t> Training(Using Different Algorithm)-</a:t>
            </a:r>
            <a:endParaRPr lang="en-IN" sz="2800" b="1" dirty="0"/>
          </a:p>
        </p:txBody>
      </p:sp>
      <p:pic>
        <p:nvPicPr>
          <p:cNvPr id="4" name="Picture 3">
            <a:extLst>
              <a:ext uri="{FF2B5EF4-FFF2-40B4-BE49-F238E27FC236}">
                <a16:creationId xmlns:a16="http://schemas.microsoft.com/office/drawing/2014/main" id="{B584D727-4331-FD1F-B9D0-C19F121423A1}"/>
              </a:ext>
            </a:extLst>
          </p:cNvPr>
          <p:cNvPicPr>
            <a:picLocks noChangeAspect="1"/>
          </p:cNvPicPr>
          <p:nvPr/>
        </p:nvPicPr>
        <p:blipFill>
          <a:blip r:embed="rId2"/>
          <a:stretch>
            <a:fillRect/>
          </a:stretch>
        </p:blipFill>
        <p:spPr>
          <a:xfrm>
            <a:off x="244549" y="854765"/>
            <a:ext cx="11834037" cy="5854380"/>
          </a:xfrm>
          <a:prstGeom prst="rect">
            <a:avLst/>
          </a:prstGeom>
        </p:spPr>
      </p:pic>
    </p:spTree>
    <p:extLst>
      <p:ext uri="{BB962C8B-B14F-4D97-AF65-F5344CB8AC3E}">
        <p14:creationId xmlns:p14="http://schemas.microsoft.com/office/powerpoint/2010/main" val="473191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D3BA-FACB-E7C6-6055-30966D958B07}"/>
              </a:ext>
            </a:extLst>
          </p:cNvPr>
          <p:cNvSpPr>
            <a:spLocks noGrp="1"/>
          </p:cNvSpPr>
          <p:nvPr>
            <p:ph type="title"/>
          </p:nvPr>
        </p:nvSpPr>
        <p:spPr>
          <a:xfrm>
            <a:off x="311426" y="106707"/>
            <a:ext cx="10515600" cy="618849"/>
          </a:xfrm>
        </p:spPr>
        <p:txBody>
          <a:bodyPr>
            <a:normAutofit/>
          </a:bodyPr>
          <a:lstStyle/>
          <a:p>
            <a:r>
              <a:rPr lang="en-US" sz="2800" b="1" dirty="0"/>
              <a:t>Pipeline Comparison(P1 to P9) -</a:t>
            </a:r>
            <a:endParaRPr lang="en-IN" sz="2800" b="1" dirty="0"/>
          </a:p>
        </p:txBody>
      </p:sp>
      <p:pic>
        <p:nvPicPr>
          <p:cNvPr id="6" name="Picture 5">
            <a:extLst>
              <a:ext uri="{FF2B5EF4-FFF2-40B4-BE49-F238E27FC236}">
                <a16:creationId xmlns:a16="http://schemas.microsoft.com/office/drawing/2014/main" id="{EA6E0B25-C77C-85FA-BE33-869590E68C6E}"/>
              </a:ext>
            </a:extLst>
          </p:cNvPr>
          <p:cNvPicPr>
            <a:picLocks noChangeAspect="1"/>
          </p:cNvPicPr>
          <p:nvPr/>
        </p:nvPicPr>
        <p:blipFill>
          <a:blip r:embed="rId2"/>
          <a:stretch>
            <a:fillRect/>
          </a:stretch>
        </p:blipFill>
        <p:spPr>
          <a:xfrm>
            <a:off x="223630" y="829917"/>
            <a:ext cx="11744739" cy="5198165"/>
          </a:xfrm>
          <a:prstGeom prst="rect">
            <a:avLst/>
          </a:prstGeom>
        </p:spPr>
      </p:pic>
      <p:sp>
        <p:nvSpPr>
          <p:cNvPr id="7" name="Title 1">
            <a:extLst>
              <a:ext uri="{FF2B5EF4-FFF2-40B4-BE49-F238E27FC236}">
                <a16:creationId xmlns:a16="http://schemas.microsoft.com/office/drawing/2014/main" id="{77934FA3-040A-5BE6-5F78-4D9EBEAE282A}"/>
              </a:ext>
            </a:extLst>
          </p:cNvPr>
          <p:cNvSpPr txBox="1">
            <a:spLocks/>
          </p:cNvSpPr>
          <p:nvPr/>
        </p:nvSpPr>
        <p:spPr>
          <a:xfrm>
            <a:off x="223630" y="6028082"/>
            <a:ext cx="10515600" cy="61884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1800" b="1" dirty="0"/>
              <a:t>*Pipeline 9 is top in leaderboard as </a:t>
            </a:r>
            <a:r>
              <a:rPr lang="en-IN" sz="1800" b="1" i="1" u="sng" dirty="0">
                <a:effectLst>
                  <a:outerShdw blurRad="38100" dist="38100" dir="2700000" algn="tl">
                    <a:srgbClr val="000000">
                      <a:alpha val="43137"/>
                    </a:srgbClr>
                  </a:outerShdw>
                </a:effectLst>
              </a:rPr>
              <a:t>F1-Score (Optimized) </a:t>
            </a:r>
            <a:r>
              <a:rPr lang="en-IN" sz="1800" b="1" dirty="0"/>
              <a:t>which is important in Network Intrusion Detection</a:t>
            </a:r>
            <a:endParaRPr lang="en-IN" sz="1800" b="1"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31828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E2B568A-FF86-F814-3FB4-EB1346EC37DB}"/>
              </a:ext>
            </a:extLst>
          </p:cNvPr>
          <p:cNvPicPr>
            <a:picLocks noChangeAspect="1"/>
          </p:cNvPicPr>
          <p:nvPr/>
        </p:nvPicPr>
        <p:blipFill>
          <a:blip r:embed="rId2"/>
          <a:stretch>
            <a:fillRect/>
          </a:stretch>
        </p:blipFill>
        <p:spPr>
          <a:xfrm>
            <a:off x="1" y="0"/>
            <a:ext cx="12191998" cy="2737883"/>
          </a:xfrm>
          <a:prstGeom prst="rect">
            <a:avLst/>
          </a:prstGeom>
        </p:spPr>
      </p:pic>
      <p:pic>
        <p:nvPicPr>
          <p:cNvPr id="4" name="Picture 3">
            <a:extLst>
              <a:ext uri="{FF2B5EF4-FFF2-40B4-BE49-F238E27FC236}">
                <a16:creationId xmlns:a16="http://schemas.microsoft.com/office/drawing/2014/main" id="{E877CA53-C1C3-21F1-DEBB-AF560288A0E5}"/>
              </a:ext>
            </a:extLst>
          </p:cNvPr>
          <p:cNvPicPr>
            <a:picLocks noChangeAspect="1"/>
          </p:cNvPicPr>
          <p:nvPr/>
        </p:nvPicPr>
        <p:blipFill>
          <a:blip r:embed="rId3"/>
          <a:stretch>
            <a:fillRect/>
          </a:stretch>
        </p:blipFill>
        <p:spPr>
          <a:xfrm>
            <a:off x="0" y="2737883"/>
            <a:ext cx="12191999" cy="4120116"/>
          </a:xfrm>
          <a:prstGeom prst="rect">
            <a:avLst/>
          </a:prstGeom>
        </p:spPr>
      </p:pic>
    </p:spTree>
    <p:extLst>
      <p:ext uri="{BB962C8B-B14F-4D97-AF65-F5344CB8AC3E}">
        <p14:creationId xmlns:p14="http://schemas.microsoft.com/office/powerpoint/2010/main" val="770397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374DD-48D1-057E-A412-A482B9409D6D}"/>
              </a:ext>
            </a:extLst>
          </p:cNvPr>
          <p:cNvSpPr>
            <a:spLocks noGrp="1"/>
          </p:cNvSpPr>
          <p:nvPr>
            <p:ph type="title"/>
          </p:nvPr>
        </p:nvSpPr>
        <p:spPr>
          <a:xfrm>
            <a:off x="301487" y="0"/>
            <a:ext cx="10204174" cy="688423"/>
          </a:xfrm>
        </p:spPr>
        <p:txBody>
          <a:bodyPr>
            <a:normAutofit/>
          </a:bodyPr>
          <a:lstStyle/>
          <a:p>
            <a:r>
              <a:rPr lang="en-IN" sz="2800" dirty="0" err="1"/>
              <a:t>Deploymrnt</a:t>
            </a:r>
            <a:r>
              <a:rPr lang="en-IN" sz="2800" dirty="0"/>
              <a:t>-</a:t>
            </a:r>
          </a:p>
        </p:txBody>
      </p:sp>
      <p:pic>
        <p:nvPicPr>
          <p:cNvPr id="4" name="Picture 3">
            <a:extLst>
              <a:ext uri="{FF2B5EF4-FFF2-40B4-BE49-F238E27FC236}">
                <a16:creationId xmlns:a16="http://schemas.microsoft.com/office/drawing/2014/main" id="{56A7B4C3-45E7-32A4-AD8E-90012590A524}"/>
              </a:ext>
            </a:extLst>
          </p:cNvPr>
          <p:cNvPicPr>
            <a:picLocks noChangeAspect="1"/>
          </p:cNvPicPr>
          <p:nvPr/>
        </p:nvPicPr>
        <p:blipFill>
          <a:blip r:embed="rId2"/>
          <a:stretch>
            <a:fillRect/>
          </a:stretch>
        </p:blipFill>
        <p:spPr>
          <a:xfrm>
            <a:off x="208723" y="590068"/>
            <a:ext cx="11320186" cy="5522498"/>
          </a:xfrm>
          <a:prstGeom prst="rect">
            <a:avLst/>
          </a:prstGeom>
        </p:spPr>
      </p:pic>
    </p:spTree>
    <p:extLst>
      <p:ext uri="{BB962C8B-B14F-4D97-AF65-F5344CB8AC3E}">
        <p14:creationId xmlns:p14="http://schemas.microsoft.com/office/powerpoint/2010/main" val="4283885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AD63-9AAA-BF27-3FC1-2FCA49F74DEF}"/>
              </a:ext>
            </a:extLst>
          </p:cNvPr>
          <p:cNvSpPr>
            <a:spLocks noGrp="1"/>
          </p:cNvSpPr>
          <p:nvPr>
            <p:ph type="title"/>
          </p:nvPr>
        </p:nvSpPr>
        <p:spPr>
          <a:xfrm>
            <a:off x="369522" y="86830"/>
            <a:ext cx="10515600" cy="926962"/>
          </a:xfrm>
        </p:spPr>
        <p:txBody>
          <a:bodyPr>
            <a:normAutofit/>
          </a:bodyPr>
          <a:lstStyle/>
          <a:p>
            <a:r>
              <a:rPr lang="en-IN" sz="2800" dirty="0"/>
              <a:t>Test data-</a:t>
            </a:r>
          </a:p>
        </p:txBody>
      </p:sp>
      <p:pic>
        <p:nvPicPr>
          <p:cNvPr id="6" name="Picture 5">
            <a:extLst>
              <a:ext uri="{FF2B5EF4-FFF2-40B4-BE49-F238E27FC236}">
                <a16:creationId xmlns:a16="http://schemas.microsoft.com/office/drawing/2014/main" id="{27DE3674-F07E-9717-4D9A-03825E2B9293}"/>
              </a:ext>
            </a:extLst>
          </p:cNvPr>
          <p:cNvPicPr>
            <a:picLocks noChangeAspect="1"/>
          </p:cNvPicPr>
          <p:nvPr/>
        </p:nvPicPr>
        <p:blipFill>
          <a:blip r:embed="rId2"/>
          <a:stretch>
            <a:fillRect/>
          </a:stretch>
        </p:blipFill>
        <p:spPr>
          <a:xfrm>
            <a:off x="369522" y="764001"/>
            <a:ext cx="10984278" cy="5329997"/>
          </a:xfrm>
          <a:prstGeom prst="rect">
            <a:avLst/>
          </a:prstGeom>
        </p:spPr>
      </p:pic>
    </p:spTree>
    <p:extLst>
      <p:ext uri="{BB962C8B-B14F-4D97-AF65-F5344CB8AC3E}">
        <p14:creationId xmlns:p14="http://schemas.microsoft.com/office/powerpoint/2010/main" val="2980828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74693"/>
            <a:ext cx="7123176" cy="461665"/>
          </a:xfrm>
          <a:prstGeom prst="rect">
            <a:avLst/>
          </a:prstGeom>
          <a:noFill/>
        </p:spPr>
        <p:txBody>
          <a:bodyPr wrap="square" rtlCol="0">
            <a:spAutoFit/>
          </a:bodyPr>
          <a:lstStyle/>
          <a:p>
            <a:r>
              <a:rPr lang="en-US" sz="2400" b="1" dirty="0"/>
              <a:t>Prediction Process-</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370427"/>
          </a:xfrm>
          <a:prstGeom prst="rect">
            <a:avLst/>
          </a:prstGeom>
          <a:pattFill prst="pct5">
            <a:fgClr>
              <a:schemeClr val="lt1"/>
            </a:fgClr>
            <a:bgClr>
              <a:schemeClr val="bg1"/>
            </a:bgClr>
          </a:pattFill>
        </p:spPr>
        <p:txBody>
          <a:bodyPr wrap="square" rtlCol="0">
            <a:spAutoFit/>
          </a:bodyPr>
          <a:lstStyle/>
          <a:p>
            <a:r>
              <a:rPr lang="en-IN" sz="1800" b="1" i="1" u="sng" dirty="0">
                <a:effectLst>
                  <a:outerShdw blurRad="38100" dist="38100" dir="2700000" algn="tl">
                    <a:srgbClr val="000000">
                      <a:alpha val="43137"/>
                    </a:srgbClr>
                  </a:outerShdw>
                </a:effectLst>
              </a:rPr>
              <a:t>Method 1: Via IBM Deployment Service (Public Endpoint)</a:t>
            </a:r>
          </a:p>
          <a:p>
            <a:r>
              <a:rPr lang="en-IN" b="1" dirty="0"/>
              <a:t>Step 1: Open the Space:</a:t>
            </a:r>
            <a:r>
              <a:rPr lang="en-IN" dirty="0"/>
              <a:t> Log into IBM Cloud and enter your deployment space (</a:t>
            </a:r>
            <a:r>
              <a:rPr lang="en-IN" dirty="0" err="1"/>
              <a:t>network_security_ml_space</a:t>
            </a:r>
            <a:r>
              <a:rPr lang="en-IN" dirty="0"/>
              <a:t>).</a:t>
            </a:r>
          </a:p>
          <a:p>
            <a:r>
              <a:rPr lang="en-IN" b="1" dirty="0"/>
              <a:t>Step 2: Select the Deployment:</a:t>
            </a:r>
            <a:r>
              <a:rPr lang="en-IN" dirty="0"/>
              <a:t> Click on your active Network Intrusion Detection online model (powered by Pipeline 9).</a:t>
            </a:r>
          </a:p>
          <a:p>
            <a:r>
              <a:rPr lang="en-IN" b="1" dirty="0"/>
              <a:t>Step 3: Go to Test Tab:</a:t>
            </a:r>
            <a:r>
              <a:rPr lang="en-IN" dirty="0"/>
              <a:t> Click the </a:t>
            </a:r>
            <a:r>
              <a:rPr lang="en-IN" b="1" dirty="0"/>
              <a:t>"Test" tab</a:t>
            </a:r>
            <a:r>
              <a:rPr lang="en-IN" dirty="0"/>
              <a:t> to open the built-in interactive testing panel.</a:t>
            </a:r>
          </a:p>
          <a:p>
            <a:r>
              <a:rPr lang="en-IN" b="1" dirty="0"/>
              <a:t>Step 4: Keep Data Types Same:</a:t>
            </a:r>
            <a:r>
              <a:rPr lang="en-IN" dirty="0"/>
              <a:t> Enter a network data row ensuring all </a:t>
            </a:r>
            <a:r>
              <a:rPr lang="en-IN" b="1" dirty="0"/>
              <a:t>41 columns</a:t>
            </a:r>
            <a:r>
              <a:rPr lang="en-IN" dirty="0"/>
              <a:t> maintain their original data types (numbers as integers, labels as text strings).</a:t>
            </a:r>
          </a:p>
          <a:p>
            <a:r>
              <a:rPr lang="en-IN" b="1" dirty="0"/>
              <a:t>Step 5: Click Predict:</a:t>
            </a:r>
            <a:r>
              <a:rPr lang="en-IN" dirty="0"/>
              <a:t> Press the </a:t>
            </a:r>
            <a:r>
              <a:rPr lang="en-IN" b="1" dirty="0"/>
              <a:t>"Predict" button</a:t>
            </a:r>
            <a:r>
              <a:rPr lang="en-IN" dirty="0"/>
              <a:t> to send the payload to the public endpoint and see the real-time classification output.</a:t>
            </a:r>
          </a:p>
          <a:p>
            <a:endParaRPr lang="en-IN" dirty="0"/>
          </a:p>
          <a:p>
            <a:endParaRPr lang="en-IN" dirty="0"/>
          </a:p>
          <a:p>
            <a:r>
              <a:rPr lang="en-IN" sz="1800" b="1" i="1" u="sng" dirty="0">
                <a:effectLst>
                  <a:outerShdw blurRad="38100" dist="38100" dir="2700000" algn="tl">
                    <a:srgbClr val="000000">
                      <a:alpha val="43137"/>
                    </a:srgbClr>
                  </a:outerShdw>
                </a:effectLst>
              </a:rPr>
              <a:t>Part 2: Via Frontend Web Application (GitHub Setup)</a:t>
            </a:r>
          </a:p>
          <a:p>
            <a:endParaRPr lang="en-IN" sz="1800" b="1" i="1" u="sng" dirty="0">
              <a:effectLst>
                <a:outerShdw blurRad="38100" dist="38100" dir="2700000" algn="tl">
                  <a:srgbClr val="000000">
                    <a:alpha val="43137"/>
                  </a:srgbClr>
                </a:outerShdw>
              </a:effectLst>
            </a:endParaRPr>
          </a:p>
          <a:p>
            <a:r>
              <a:rPr lang="en-IN" b="1" dirty="0"/>
              <a:t>Step 1: Clone &amp; Pull:</a:t>
            </a:r>
            <a:r>
              <a:rPr lang="en-IN" dirty="0"/>
              <a:t> Open your terminal, clone the public repository, and pull the latest code infrastructure.</a:t>
            </a:r>
          </a:p>
          <a:p>
            <a:r>
              <a:rPr lang="en-IN" b="1" dirty="0"/>
              <a:t>Step 2: Install &amp; Run:</a:t>
            </a:r>
            <a:r>
              <a:rPr lang="en-IN" dirty="0"/>
              <a:t> Install the necessary python dependencies and launch your local app server.</a:t>
            </a:r>
          </a:p>
          <a:p>
            <a:r>
              <a:rPr lang="en-IN" b="1" dirty="0"/>
              <a:t>Step 3: Open Dashboard:</a:t>
            </a:r>
            <a:r>
              <a:rPr lang="en-IN" dirty="0"/>
              <a:t> Open your web browser and go to your local address (e.g., http://127.0.0.1:5000/).</a:t>
            </a:r>
          </a:p>
          <a:p>
            <a:r>
              <a:rPr lang="en-IN" b="1" dirty="0"/>
              <a:t>Step 4: Upload File &amp; Predict:</a:t>
            </a:r>
            <a:r>
              <a:rPr lang="en-IN" dirty="0"/>
              <a:t> Click the file upload panel, select your 41-column network traffic CSV file, and submit it.</a:t>
            </a:r>
          </a:p>
          <a:p>
            <a:r>
              <a:rPr lang="en-IN" b="1" dirty="0"/>
              <a:t>Step 5: View Output Labels:</a:t>
            </a:r>
            <a:r>
              <a:rPr lang="en-IN" dirty="0"/>
              <a:t> The app passes the data types exactly as-is to the IBM API and displays the results: safe traffic gets a </a:t>
            </a:r>
            <a:r>
              <a:rPr lang="en-IN" b="1" dirty="0"/>
              <a:t>green label (normal)</a:t>
            </a:r>
            <a:r>
              <a:rPr lang="en-IN" dirty="0"/>
              <a:t>, while malicious attacks get a </a:t>
            </a:r>
            <a:r>
              <a:rPr lang="en-IN" b="1" dirty="0"/>
              <a:t>red label (anomaly)</a:t>
            </a:r>
            <a:r>
              <a:rPr lang="en-IN" dirty="0"/>
              <a:t>.</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05727"/>
            <a:ext cx="7123176" cy="461665"/>
          </a:xfrm>
          <a:prstGeom prst="rect">
            <a:avLst/>
          </a:prstGeom>
          <a:noFill/>
        </p:spPr>
        <p:txBody>
          <a:bodyPr wrap="square" rtlCol="0">
            <a:spAutoFit/>
          </a:bodyPr>
          <a:lstStyle/>
          <a:p>
            <a:r>
              <a:rPr lang="en-US" sz="2400" b="1" dirty="0"/>
              <a:t>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19261" y="973685"/>
            <a:ext cx="10753477" cy="2062103"/>
          </a:xfrm>
          <a:prstGeom prst="rect">
            <a:avLst/>
          </a:prstGeom>
          <a:gradFill>
            <a:gsLst>
              <a:gs pos="46000">
                <a:schemeClr val="accent1">
                  <a:lumMod val="5000"/>
                  <a:lumOff val="95000"/>
                </a:schemeClr>
              </a:gs>
              <a:gs pos="0">
                <a:schemeClr val="accent1">
                  <a:lumMod val="45000"/>
                  <a:lumOff val="55000"/>
                  <a:alpha val="0"/>
                </a:schemeClr>
              </a:gs>
              <a:gs pos="0">
                <a:schemeClr val="accent1">
                  <a:lumMod val="45000"/>
                  <a:lumOff val="55000"/>
                </a:schemeClr>
              </a:gs>
              <a:gs pos="76000">
                <a:schemeClr val="accent1">
                  <a:lumMod val="30000"/>
                  <a:lumOff val="70000"/>
                </a:schemeClr>
              </a:gs>
            </a:gsLst>
            <a:lin ang="5400000" scaled="1"/>
          </a:gradFill>
        </p:spPr>
        <p:txBody>
          <a:bodyPr wrap="square" rtlCol="0">
            <a:spAutoFit/>
          </a:bodyPr>
          <a:lstStyle/>
          <a:p>
            <a:r>
              <a:rPr lang="en-IN" sz="1600" b="1" dirty="0"/>
              <a:t>No-Code Machine Learning Pipeline:</a:t>
            </a:r>
            <a:r>
              <a:rPr lang="en-IN" sz="1600" dirty="0"/>
              <a:t> The project utilizes IBM Watson </a:t>
            </a:r>
            <a:r>
              <a:rPr lang="en-IN" sz="1600" dirty="0" err="1"/>
              <a:t>AutoAI</a:t>
            </a:r>
            <a:r>
              <a:rPr lang="en-IN" sz="1600" dirty="0"/>
              <a:t> to fully automate data preprocessing, feature engineering, and model selection, eliminating human coding errors during the development lifecycle. </a:t>
            </a:r>
          </a:p>
          <a:p>
            <a:r>
              <a:rPr lang="en-IN" sz="1600" b="1" dirty="0"/>
              <a:t>F1-Score Optimized Security Core:</a:t>
            </a:r>
            <a:r>
              <a:rPr lang="en-IN" sz="1600" dirty="0"/>
              <a:t> Unlike standard models that focus strictly on baseline accuracy, this pipeline is engineered to penalize False Negatives, ensuring highly critical threat containment and a reliability score of </a:t>
            </a:r>
            <a:r>
              <a:rPr lang="en-IN" sz="1600" b="1" dirty="0"/>
              <a:t>0.995</a:t>
            </a:r>
            <a:r>
              <a:rPr lang="en-IN" sz="1600" dirty="0"/>
              <a:t>. </a:t>
            </a:r>
          </a:p>
          <a:p>
            <a:r>
              <a:rPr lang="en-IN" sz="1600" b="1" dirty="0"/>
              <a:t>Production-Ready Enterprise Blueprint:</a:t>
            </a:r>
            <a:r>
              <a:rPr lang="en-IN" sz="1600" dirty="0"/>
              <a:t> The architecture establishes a direct connection between a live cloud deployment workspace (</a:t>
            </a:r>
            <a:r>
              <a:rPr lang="en-IN" sz="1600" b="1" dirty="0"/>
              <a:t>IBM Watson Machine Learning API</a:t>
            </a:r>
            <a:r>
              <a:rPr lang="en-IN" sz="1600" dirty="0"/>
              <a:t>) and a responsive user dashboard, simulating real-world Security Operation </a:t>
            </a:r>
            <a:r>
              <a:rPr lang="en-IN" sz="1600" dirty="0" err="1"/>
              <a:t>Center</a:t>
            </a:r>
            <a:r>
              <a:rPr lang="en-IN" sz="1600" dirty="0"/>
              <a:t> (SOC) environments</a:t>
            </a:r>
          </a:p>
          <a:p>
            <a:endParaRPr lang="en-IN" sz="1600" dirty="0"/>
          </a:p>
        </p:txBody>
      </p:sp>
      <p:sp>
        <p:nvSpPr>
          <p:cNvPr id="4" name="TextBox 3">
            <a:extLst>
              <a:ext uri="{FF2B5EF4-FFF2-40B4-BE49-F238E27FC236}">
                <a16:creationId xmlns:a16="http://schemas.microsoft.com/office/drawing/2014/main" id="{E50B69E6-DBC5-1F9B-0499-FD6FBCDF9595}"/>
              </a:ext>
            </a:extLst>
          </p:cNvPr>
          <p:cNvSpPr txBox="1"/>
          <p:nvPr/>
        </p:nvSpPr>
        <p:spPr>
          <a:xfrm>
            <a:off x="661283" y="3198167"/>
            <a:ext cx="7123176" cy="461665"/>
          </a:xfrm>
          <a:prstGeom prst="rect">
            <a:avLst/>
          </a:prstGeom>
          <a:noFill/>
        </p:spPr>
        <p:txBody>
          <a:bodyPr wrap="square" rtlCol="0">
            <a:spAutoFit/>
          </a:bodyPr>
          <a:lstStyle/>
          <a:p>
            <a:r>
              <a:rPr lang="en-US" sz="2400" b="1" dirty="0"/>
              <a:t>Future Scope-</a:t>
            </a:r>
          </a:p>
        </p:txBody>
      </p:sp>
      <p:sp>
        <p:nvSpPr>
          <p:cNvPr id="5" name="TextBox 4">
            <a:extLst>
              <a:ext uri="{FF2B5EF4-FFF2-40B4-BE49-F238E27FC236}">
                <a16:creationId xmlns:a16="http://schemas.microsoft.com/office/drawing/2014/main" id="{E4F3A985-BF7C-11EC-D0B4-82CB8DEED6B2}"/>
              </a:ext>
            </a:extLst>
          </p:cNvPr>
          <p:cNvSpPr txBox="1"/>
          <p:nvPr/>
        </p:nvSpPr>
        <p:spPr>
          <a:xfrm>
            <a:off x="661282" y="3659832"/>
            <a:ext cx="10753477" cy="2923877"/>
          </a:xfrm>
          <a:prstGeom prst="rect">
            <a:avLst/>
          </a:prstGeom>
          <a:gradFill>
            <a:gsLst>
              <a:gs pos="46000">
                <a:schemeClr val="accent1">
                  <a:lumMod val="5000"/>
                  <a:lumOff val="95000"/>
                </a:schemeClr>
              </a:gs>
              <a:gs pos="0">
                <a:schemeClr val="accent1">
                  <a:lumMod val="45000"/>
                  <a:lumOff val="55000"/>
                  <a:alpha val="0"/>
                </a:schemeClr>
              </a:gs>
              <a:gs pos="0">
                <a:schemeClr val="accent1">
                  <a:lumMod val="45000"/>
                  <a:lumOff val="55000"/>
                </a:schemeClr>
              </a:gs>
              <a:gs pos="76000">
                <a:schemeClr val="accent1">
                  <a:lumMod val="30000"/>
                  <a:lumOff val="70000"/>
                </a:schemeClr>
              </a:gs>
            </a:gsLst>
            <a:lin ang="5400000" scaled="1"/>
          </a:gradFill>
        </p:spPr>
        <p:txBody>
          <a:bodyPr wrap="square" rtlCol="0">
            <a:spAutoFit/>
          </a:bodyPr>
          <a:lstStyle/>
          <a:p>
            <a:r>
              <a:rPr lang="en-IN" b="1" dirty="0"/>
              <a:t>Autonomous Threat Mitigation (Active Response):</a:t>
            </a:r>
            <a:r>
              <a:rPr lang="en-IN" dirty="0"/>
              <a:t> Upgrading the application to act as an active AI agent that handles threat containment automatically. Instead of just displaying red alerts, the agent will instantly rewrite firewall policies, block malicious IP addresses, or isolate infected network nodes the moment an anomaly is detected. </a:t>
            </a:r>
          </a:p>
          <a:p>
            <a:r>
              <a:rPr lang="en-IN" b="1" dirty="0"/>
              <a:t>Real-Time Alarm &amp; Alert Engine:</a:t>
            </a:r>
            <a:r>
              <a:rPr lang="en-IN" dirty="0"/>
              <a:t> Implementing an automated alert system as the first line of </a:t>
            </a:r>
            <a:r>
              <a:rPr lang="en-IN" dirty="0" err="1"/>
              <a:t>defense</a:t>
            </a:r>
            <a:r>
              <a:rPr lang="en-IN" dirty="0"/>
              <a:t>. The AI agent will trigger instant notifications across channels like SMS, WhatsApp, or emails immediately upon threat discovery to minimize window-of-breach latency. </a:t>
            </a:r>
          </a:p>
          <a:p>
            <a:r>
              <a:rPr lang="en-IN" b="1" dirty="0"/>
              <a:t>Live Packet Ingestion:</a:t>
            </a:r>
            <a:r>
              <a:rPr lang="en-IN" dirty="0"/>
              <a:t> Upgrading the system components to sniff and process live streaming network traffic patterns in real-time, moving completely away from manual batch uploads.</a:t>
            </a:r>
          </a:p>
          <a:p>
            <a:r>
              <a:rPr lang="en-IN" b="1" dirty="0"/>
              <a:t>Biometric Security Integration:</a:t>
            </a:r>
            <a:r>
              <a:rPr lang="en-IN" dirty="0"/>
              <a:t> Exploring connections to wearable devices and smartwatches to alert security administrators with real-time haptic alarms during high-severity network intrusions. </a:t>
            </a:r>
          </a:p>
          <a:p>
            <a:r>
              <a:rPr lang="en-IN" b="1" dirty="0"/>
              <a:t>Multilingual Security Dashboards:</a:t>
            </a:r>
            <a:r>
              <a:rPr lang="en-IN" dirty="0"/>
              <a:t> Introducing voice-enabled interaction and localized multi-language reporting to ensure accessible system metrics across global security teams.</a:t>
            </a:r>
          </a:p>
          <a:p>
            <a:endParaRPr lang="en-IN" sz="1600" b="1"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60000"/>
              <a:lumOff val="40000"/>
            </a:schemeClr>
          </a:bgClr>
        </a:pattFill>
        <a:effectLst/>
      </p:bgPr>
    </p:bg>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586409" y="1153712"/>
            <a:ext cx="9846895" cy="2036749"/>
          </a:xfrm>
          <a:prstGeom prst="rect">
            <a:avLst/>
          </a:prstGeom>
          <a:gradFill>
            <a:gsLst>
              <a:gs pos="46000">
                <a:schemeClr val="accent1">
                  <a:lumMod val="5000"/>
                  <a:lumOff val="95000"/>
                </a:schemeClr>
              </a:gs>
              <a:gs pos="0">
                <a:schemeClr val="accent1">
                  <a:lumMod val="45000"/>
                  <a:lumOff val="55000"/>
                  <a:alpha val="0"/>
                </a:schemeClr>
              </a:gs>
              <a:gs pos="0">
                <a:schemeClr val="accent1">
                  <a:lumMod val="45000"/>
                  <a:lumOff val="55000"/>
                </a:schemeClr>
              </a:gs>
              <a:gs pos="76000">
                <a:schemeClr val="accent1">
                  <a:lumMod val="30000"/>
                  <a:lumOff val="70000"/>
                </a:schemeClr>
              </a:gs>
            </a:gsLst>
            <a:lin ang="5400000" scaled="1"/>
          </a:grad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https://github.com/Shiva-panda/network_intrusion_ibm_cloud_implent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Train and Test data set - </a:t>
            </a:r>
            <a:r>
              <a:rPr lang="en-US" sz="1850" dirty="0">
                <a:solidFill>
                  <a:srgbClr val="2B3541"/>
                </a:solidFill>
                <a:latin typeface="Times New Roman"/>
                <a:ea typeface="Times New Roman"/>
                <a:cs typeface="Times New Roman"/>
                <a:sym typeface="Times New Roman"/>
                <a:hlinkClick r:id="rId4"/>
              </a:rPr>
              <a:t>https://www.kaggle.com/datasets/sampadab17/network-intrusion-detection</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accent2">
              <a:lumMod val="75000"/>
            </a:schemeClr>
          </a:bgClr>
        </a:pattFill>
        <a:effectLst/>
      </p:bgPr>
    </p:bg>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
        <p:nvSpPr>
          <p:cNvPr id="2" name="Oval 1">
            <a:extLst>
              <a:ext uri="{FF2B5EF4-FFF2-40B4-BE49-F238E27FC236}">
                <a16:creationId xmlns:a16="http://schemas.microsoft.com/office/drawing/2014/main" id="{BDC66EA4-757A-7CA2-A261-3A1D7FD08CD3}"/>
              </a:ext>
            </a:extLst>
          </p:cNvPr>
          <p:cNvSpPr/>
          <p:nvPr/>
        </p:nvSpPr>
        <p:spPr>
          <a:xfrm>
            <a:off x="2284287" y="1749175"/>
            <a:ext cx="7623425" cy="3503488"/>
          </a:xfrm>
          <a:prstGeom prst="ellipse">
            <a:avLst/>
          </a:prstGeom>
          <a:solidFill>
            <a:schemeClr val="accent1">
              <a:alpha val="44000"/>
            </a:schemeClr>
          </a:solidFill>
          <a:ln>
            <a:gradFill>
              <a:gsLst>
                <a:gs pos="0">
                  <a:schemeClr val="accent1">
                    <a:lumMod val="5000"/>
                    <a:lumOff val="95000"/>
                  </a:schemeClr>
                </a:gs>
                <a:gs pos="29000">
                  <a:schemeClr val="accent1">
                    <a:lumMod val="45000"/>
                    <a:lumOff val="55000"/>
                    <a:alpha val="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1505</TotalTime>
  <Words>1639</Words>
  <Application>Microsoft Office PowerPoint</Application>
  <PresentationFormat>Widescreen</PresentationFormat>
  <Paragraphs>101</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AutoAI Training(Using Different Algorithm)-</vt:lpstr>
      <vt:lpstr>Pipeline Comparison(P1 to P9) -</vt:lpstr>
      <vt:lpstr>PowerPoint Presentation</vt:lpstr>
      <vt:lpstr>Deploymrnt-</vt:lpstr>
      <vt:lpstr>Test data-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 panda</cp:lastModifiedBy>
  <cp:revision>25</cp:revision>
  <dcterms:created xsi:type="dcterms:W3CDTF">2025-07-08T05:06:56Z</dcterms:created>
  <dcterms:modified xsi:type="dcterms:W3CDTF">2026-06-04T07:01:52Z</dcterms:modified>
</cp:coreProperties>
</file>